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598747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378349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5950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017043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3139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484464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184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12537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5539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22015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11/21/2025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906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11/21/2025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06668828"/>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16" name="Picture 15" descr="An abstract burst of blue and pink">
            <a:extLst>
              <a:ext uri="{FF2B5EF4-FFF2-40B4-BE49-F238E27FC236}">
                <a16:creationId xmlns:a16="http://schemas.microsoft.com/office/drawing/2014/main" id="{EE2A53B2-1822-B7BA-D856-E65CC0F9292E}"/>
              </a:ext>
            </a:extLst>
          </p:cNvPr>
          <p:cNvPicPr>
            <a:picLocks noChangeAspect="1"/>
          </p:cNvPicPr>
          <p:nvPr/>
        </p:nvPicPr>
        <p:blipFill>
          <a:blip r:embed="rId2"/>
          <a:srcRect/>
          <a:stretch>
            <a:fillRect/>
          </a:stretch>
        </p:blipFill>
        <p:spPr>
          <a:xfrm>
            <a:off x="20" y="10"/>
            <a:ext cx="12191979" cy="6857990"/>
          </a:xfrm>
          <a:prstGeom prst="rect">
            <a:avLst/>
          </a:prstGeom>
        </p:spPr>
      </p:pic>
      <p:sp>
        <p:nvSpPr>
          <p:cNvPr id="17" name="Rectangle 16">
            <a:extLst>
              <a:ext uri="{FF2B5EF4-FFF2-40B4-BE49-F238E27FC236}">
                <a16:creationId xmlns:a16="http://schemas.microsoft.com/office/drawing/2014/main" id="{AAB476BF-4EE2-5243-CABB-6CC72C39B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7555193-7EF5-DE7B-27C0-0826CF6EC10F}"/>
              </a:ext>
            </a:extLst>
          </p:cNvPr>
          <p:cNvSpPr>
            <a:spLocks noGrp="1"/>
          </p:cNvSpPr>
          <p:nvPr>
            <p:ph type="ctrTitle"/>
          </p:nvPr>
        </p:nvSpPr>
        <p:spPr>
          <a:xfrm>
            <a:off x="7306780" y="978409"/>
            <a:ext cx="4496529" cy="3678268"/>
          </a:xfrm>
        </p:spPr>
        <p:txBody>
          <a:bodyPr anchor="t">
            <a:normAutofit fontScale="90000"/>
          </a:bodyPr>
          <a:lstStyle/>
          <a:p>
            <a:r>
              <a:rPr lang="en-US" sz="6000" dirty="0"/>
              <a:t>POE - </a:t>
            </a:r>
            <a:r>
              <a:rPr lang="en-ZA" sz="6000" dirty="0"/>
              <a:t>Monthly Claim System</a:t>
            </a:r>
          </a:p>
        </p:txBody>
      </p:sp>
      <p:sp>
        <p:nvSpPr>
          <p:cNvPr id="3" name="Subtitle 2">
            <a:extLst>
              <a:ext uri="{FF2B5EF4-FFF2-40B4-BE49-F238E27FC236}">
                <a16:creationId xmlns:a16="http://schemas.microsoft.com/office/drawing/2014/main" id="{46DE78BF-DBAE-13DD-7BBD-E07729A071BB}"/>
              </a:ext>
            </a:extLst>
          </p:cNvPr>
          <p:cNvSpPr>
            <a:spLocks noGrp="1"/>
          </p:cNvSpPr>
          <p:nvPr>
            <p:ph type="subTitle" idx="1"/>
          </p:nvPr>
        </p:nvSpPr>
        <p:spPr>
          <a:xfrm>
            <a:off x="7303288" y="4729138"/>
            <a:ext cx="4488812" cy="1150453"/>
          </a:xfrm>
        </p:spPr>
        <p:txBody>
          <a:bodyPr anchor="b">
            <a:normAutofit/>
          </a:bodyPr>
          <a:lstStyle/>
          <a:p>
            <a:r>
              <a:rPr lang="en-ZA" dirty="0"/>
              <a:t>Student Nr. : ST10438554</a:t>
            </a:r>
          </a:p>
        </p:txBody>
      </p:sp>
      <p:sp>
        <p:nvSpPr>
          <p:cNvPr id="13" name="Rectangle 12">
            <a:extLst>
              <a:ext uri="{FF2B5EF4-FFF2-40B4-BE49-F238E27FC236}">
                <a16:creationId xmlns:a16="http://schemas.microsoft.com/office/drawing/2014/main" id="{20D28EA4-6F96-F7C6-1D07-5BA5C2738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06781" y="508090"/>
            <a:ext cx="449275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15" name="Rectangle 14">
            <a:extLst>
              <a:ext uri="{FF2B5EF4-FFF2-40B4-BE49-F238E27FC236}">
                <a16:creationId xmlns:a16="http://schemas.microsoft.com/office/drawing/2014/main" id="{FDFF93C5-0576-D227-80A7-4CFBA8791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10119" y="6209925"/>
            <a:ext cx="449275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18231169"/>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011FFD95-CE2C-0541-F417-9166DA8CCC96}"/>
              </a:ext>
            </a:extLst>
          </p:cNvPr>
          <p:cNvSpPr>
            <a:spLocks noGrp="1"/>
          </p:cNvSpPr>
          <p:nvPr>
            <p:ph type="ctrTitle"/>
          </p:nvPr>
        </p:nvSpPr>
        <p:spPr>
          <a:xfrm>
            <a:off x="521208" y="978408"/>
            <a:ext cx="4754880" cy="1463040"/>
          </a:xfrm>
        </p:spPr>
        <p:txBody>
          <a:bodyPr vert="horz" lIns="91440" tIns="45720" rIns="91440" bIns="45720" rtlCol="0" anchor="t">
            <a:normAutofit/>
          </a:bodyPr>
          <a:lstStyle/>
          <a:p>
            <a:r>
              <a:rPr lang="en-US" sz="4400" b="1" kern="1200">
                <a:solidFill>
                  <a:schemeClr val="tx1"/>
                </a:solidFill>
                <a:latin typeface="+mj-lt"/>
                <a:ea typeface="+mj-ea"/>
                <a:cs typeface="+mj-cs"/>
              </a:rPr>
              <a:t>Application Layout</a:t>
            </a:r>
          </a:p>
        </p:txBody>
      </p:sp>
      <p:sp>
        <p:nvSpPr>
          <p:cNvPr id="16" name="Rectangle 15">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ubtitle 2">
            <a:extLst>
              <a:ext uri="{FF2B5EF4-FFF2-40B4-BE49-F238E27FC236}">
                <a16:creationId xmlns:a16="http://schemas.microsoft.com/office/drawing/2014/main" id="{67E4F1F2-64CE-4B67-2D1C-694269F86698}"/>
              </a:ext>
            </a:extLst>
          </p:cNvPr>
          <p:cNvSpPr>
            <a:spLocks noGrp="1"/>
          </p:cNvSpPr>
          <p:nvPr>
            <p:ph type="subTitle" idx="1"/>
          </p:nvPr>
        </p:nvSpPr>
        <p:spPr>
          <a:xfrm>
            <a:off x="521208" y="2578608"/>
            <a:ext cx="4672584" cy="3767328"/>
          </a:xfrm>
        </p:spPr>
        <p:txBody>
          <a:bodyPr vert="horz" lIns="91440" tIns="45720" rIns="91440" bIns="45720" rtlCol="0">
            <a:normAutofit/>
          </a:bodyPr>
          <a:lstStyle/>
          <a:p>
            <a:r>
              <a:rPr lang="en-US" b="1" dirty="0">
                <a:latin typeface="Arial" panose="020B0604020202020204" pitchFamily="34" charset="0"/>
                <a:cs typeface="Arial" panose="020B0604020202020204" pitchFamily="34" charset="0"/>
              </a:rPr>
              <a:t>Lecturer Claim Submission</a:t>
            </a:r>
            <a:r>
              <a:rPr lang="en-US" dirty="0">
                <a:latin typeface="Arial" panose="020B0604020202020204" pitchFamily="34" charset="0"/>
                <a:cs typeface="Arial" panose="020B0604020202020204" pitchFamily="34" charset="0"/>
              </a:rPr>
              <a:t> </a:t>
            </a:r>
          </a:p>
          <a:p>
            <a:pPr marL="342900" indent="-228600">
              <a:buFont typeface="Arial" panose="020B0604020202020204" pitchFamily="34" charset="0"/>
              <a:buChar char="•"/>
            </a:pPr>
            <a:r>
              <a:rPr lang="en-US" dirty="0"/>
              <a:t>Text Boxes: Lecturer Name, Hours Worked, Hourly Rate</a:t>
            </a:r>
          </a:p>
          <a:p>
            <a:pPr marL="342900" indent="-228600">
              <a:buFont typeface="Arial" panose="020B0604020202020204" pitchFamily="34" charset="0"/>
              <a:buChar char="•"/>
            </a:pPr>
            <a:r>
              <a:rPr lang="en-US" dirty="0"/>
              <a:t>Document upload button</a:t>
            </a:r>
          </a:p>
          <a:p>
            <a:pPr marL="342900" indent="-228600">
              <a:buFont typeface="Arial" panose="020B0604020202020204" pitchFamily="34" charset="0"/>
              <a:buChar char="•"/>
            </a:pPr>
            <a:r>
              <a:rPr lang="en-US" dirty="0"/>
              <a:t>Submit claim button</a:t>
            </a:r>
          </a:p>
          <a:p>
            <a:pPr indent="-228600">
              <a:buFont typeface="Arial" panose="020B0604020202020204" pitchFamily="34" charset="0"/>
              <a:buChar char="•"/>
            </a:pPr>
            <a:endParaRPr lang="en-US" dirty="0"/>
          </a:p>
        </p:txBody>
      </p:sp>
      <p:pic>
        <p:nvPicPr>
          <p:cNvPr id="7" name="Picture 6" descr="A screenshot of a computer screen&#10;&#10;AI-generated content may be incorrect.">
            <a:extLst>
              <a:ext uri="{FF2B5EF4-FFF2-40B4-BE49-F238E27FC236}">
                <a16:creationId xmlns:a16="http://schemas.microsoft.com/office/drawing/2014/main" id="{514B234E-916E-40A0-CDAC-12C8EA0F57E0}"/>
              </a:ext>
            </a:extLst>
          </p:cNvPr>
          <p:cNvPicPr>
            <a:picLocks noChangeAspect="1"/>
          </p:cNvPicPr>
          <p:nvPr/>
        </p:nvPicPr>
        <p:blipFill>
          <a:blip r:embed="rId2">
            <a:extLst>
              <a:ext uri="{28A0092B-C50C-407E-A947-70E740481C1C}">
                <a14:useLocalDpi xmlns:a14="http://schemas.microsoft.com/office/drawing/2010/main" val="0"/>
              </a:ext>
            </a:extLst>
          </a:blip>
          <a:srcRect t="963" r="1"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3071575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C2C08238-ED9F-AB67-0BD6-95A3CD99E793}"/>
              </a:ext>
            </a:extLst>
          </p:cNvPr>
          <p:cNvSpPr>
            <a:spLocks noGrp="1"/>
          </p:cNvSpPr>
          <p:nvPr>
            <p:ph type="title"/>
          </p:nvPr>
        </p:nvSpPr>
        <p:spPr>
          <a:xfrm>
            <a:off x="6995160" y="978408"/>
            <a:ext cx="4745736" cy="1463040"/>
          </a:xfrm>
        </p:spPr>
        <p:txBody>
          <a:bodyPr vert="horz" lIns="91440" tIns="45720" rIns="91440" bIns="45720" rtlCol="0" anchor="t">
            <a:normAutofit/>
          </a:bodyPr>
          <a:lstStyle/>
          <a:p>
            <a:r>
              <a:rPr lang="en-US" b="1" kern="1200">
                <a:solidFill>
                  <a:schemeClr val="tx1"/>
                </a:solidFill>
                <a:latin typeface="+mj-lt"/>
                <a:ea typeface="+mj-ea"/>
                <a:cs typeface="+mj-cs"/>
              </a:rPr>
              <a:t>Application Layout</a:t>
            </a:r>
          </a:p>
        </p:txBody>
      </p:sp>
      <p:pic>
        <p:nvPicPr>
          <p:cNvPr id="7" name="Content Placeholder 6" descr="A screenshot of a computer&#10;&#10;AI-generated content may be incorrect.">
            <a:extLst>
              <a:ext uri="{FF2B5EF4-FFF2-40B4-BE49-F238E27FC236}">
                <a16:creationId xmlns:a16="http://schemas.microsoft.com/office/drawing/2014/main" id="{002B4706-9F21-125D-1C16-0B285B8FEB7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2848" r="4199" b="-3"/>
          <a:stretch>
            <a:fillRect/>
          </a:stretch>
        </p:blipFill>
        <p:spPr>
          <a:xfrm>
            <a:off x="517868" y="508090"/>
            <a:ext cx="5705856" cy="5846990"/>
          </a:xfrm>
          <a:prstGeom prst="rect">
            <a:avLst/>
          </a:prstGeom>
        </p:spPr>
      </p:pic>
      <p:sp>
        <p:nvSpPr>
          <p:cNvPr id="16" name="Freeform: Shape 15">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5" name="Rectangle 1">
            <a:extLst>
              <a:ext uri="{FF2B5EF4-FFF2-40B4-BE49-F238E27FC236}">
                <a16:creationId xmlns:a16="http://schemas.microsoft.com/office/drawing/2014/main" id="{7761C388-4EF9-C191-121D-AF024B180EED}"/>
              </a:ext>
            </a:extLst>
          </p:cNvPr>
          <p:cNvSpPr>
            <a:spLocks noGrp="1" noChangeArrowheads="1"/>
          </p:cNvSpPr>
          <p:nvPr>
            <p:ph sz="half" idx="1"/>
          </p:nvPr>
        </p:nvSpPr>
        <p:spPr bwMode="auto">
          <a:xfrm>
            <a:off x="6995160" y="2578608"/>
            <a:ext cx="4672584" cy="376732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fontAlgn="base">
              <a:spcBef>
                <a:spcPct val="0"/>
              </a:spcBef>
              <a:spcAft>
                <a:spcPts val="600"/>
              </a:spcAft>
              <a:buClrTx/>
              <a:buSzTx/>
              <a:buNone/>
              <a:tabLst/>
            </a:pPr>
            <a:r>
              <a:rPr lang="en-US" altLang="en-US" b="1" dirty="0"/>
              <a:t>  C</a:t>
            </a:r>
            <a:r>
              <a:rPr kumimoji="0" lang="en-US" altLang="en-US" b="1" i="0" u="none" strike="noStrike" cap="none" normalizeH="0" baseline="0" dirty="0">
                <a:ln>
                  <a:noFill/>
                </a:ln>
                <a:effectLst/>
              </a:rPr>
              <a:t>laims Dashboard</a:t>
            </a:r>
            <a:r>
              <a:rPr kumimoji="0" lang="en-US" altLang="en-US" b="0" i="0" u="none" strike="noStrike" cap="none" normalizeH="0" baseline="0" dirty="0">
                <a:ln>
                  <a:noFill/>
                </a:ln>
                <a:effectLst/>
              </a:rPr>
              <a:t> </a:t>
            </a:r>
          </a:p>
          <a:p>
            <a:pPr fontAlgn="base">
              <a:spcBef>
                <a:spcPct val="0"/>
              </a:spcBef>
              <a:spcAft>
                <a:spcPts val="600"/>
              </a:spcAft>
            </a:pPr>
            <a:r>
              <a:rPr kumimoji="0" lang="en-US" altLang="en-US" b="0" i="0" u="none" strike="noStrike" cap="none" normalizeH="0" baseline="0" dirty="0">
                <a:ln>
                  <a:noFill/>
                </a:ln>
                <a:effectLst/>
              </a:rPr>
              <a:t>DataGrid showing all claims</a:t>
            </a:r>
          </a:p>
          <a:p>
            <a:pPr fontAlgn="base">
              <a:spcBef>
                <a:spcPct val="0"/>
              </a:spcBef>
              <a:spcAft>
                <a:spcPts val="600"/>
              </a:spcAft>
            </a:pPr>
            <a:r>
              <a:rPr kumimoji="0" lang="en-US" altLang="en-US" b="0" i="0" u="none" strike="noStrike" cap="none" normalizeH="0" baseline="0" dirty="0">
                <a:ln>
                  <a:noFill/>
                </a:ln>
                <a:effectLst/>
              </a:rPr>
              <a:t>Approve/Reject buttons</a:t>
            </a:r>
          </a:p>
          <a:p>
            <a:pPr fontAlgn="base">
              <a:spcBef>
                <a:spcPct val="0"/>
              </a:spcBef>
              <a:spcAft>
                <a:spcPts val="600"/>
              </a:spcAft>
            </a:pPr>
            <a:r>
              <a:rPr kumimoji="0" lang="en-US" altLang="en-US" b="0" i="0" u="none" strike="noStrike" cap="none" normalizeH="0" baseline="0" dirty="0">
                <a:ln>
                  <a:noFill/>
                </a:ln>
                <a:effectLst/>
              </a:rPr>
              <a:t>HR report generation button</a:t>
            </a:r>
          </a:p>
          <a:p>
            <a:pPr marL="0" marR="0" lvl="0" fontAlgn="base">
              <a:spcBef>
                <a:spcPct val="0"/>
              </a:spcBef>
              <a:spcAft>
                <a:spcPts val="600"/>
              </a:spcAft>
              <a:buClrTx/>
              <a:buSzTx/>
              <a:tabLst/>
            </a:pPr>
            <a:r>
              <a:rPr kumimoji="0" lang="en-US" altLang="en-US" b="0" i="0" u="none" strike="noStrike" cap="none" normalizeH="0" baseline="0" dirty="0">
                <a:ln>
                  <a:noFill/>
                </a:ln>
                <a:effectLst/>
              </a:rPr>
              <a:t> Clean UI with Group Boxes and  Stack Panels</a:t>
            </a:r>
          </a:p>
        </p:txBody>
      </p:sp>
    </p:spTree>
    <p:extLst>
      <p:ext uri="{BB962C8B-B14F-4D97-AF65-F5344CB8AC3E}">
        <p14:creationId xmlns:p14="http://schemas.microsoft.com/office/powerpoint/2010/main" val="892023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57985-F432-C774-A837-620CE4A1D378}"/>
              </a:ext>
            </a:extLst>
          </p:cNvPr>
          <p:cNvSpPr>
            <a:spLocks noGrp="1"/>
          </p:cNvSpPr>
          <p:nvPr>
            <p:ph type="title"/>
          </p:nvPr>
        </p:nvSpPr>
        <p:spPr>
          <a:xfrm>
            <a:off x="521208" y="978408"/>
            <a:ext cx="11155680" cy="799592"/>
          </a:xfrm>
        </p:spPr>
        <p:txBody>
          <a:bodyPr/>
          <a:lstStyle/>
          <a:p>
            <a:pPr algn="ctr"/>
            <a:r>
              <a:rPr lang="en-ZA" dirty="0"/>
              <a:t>Placeholders for Text Boxes</a:t>
            </a:r>
          </a:p>
        </p:txBody>
      </p:sp>
      <p:sp>
        <p:nvSpPr>
          <p:cNvPr id="5" name="Rectangle 1">
            <a:extLst>
              <a:ext uri="{FF2B5EF4-FFF2-40B4-BE49-F238E27FC236}">
                <a16:creationId xmlns:a16="http://schemas.microsoft.com/office/drawing/2014/main" id="{FA8D7D98-F082-806C-7041-D7A1BAE165FD}"/>
              </a:ext>
            </a:extLst>
          </p:cNvPr>
          <p:cNvSpPr>
            <a:spLocks noGrp="1" noChangeArrowheads="1"/>
          </p:cNvSpPr>
          <p:nvPr>
            <p:ph sz="half" idx="2"/>
          </p:nvPr>
        </p:nvSpPr>
        <p:spPr bwMode="auto">
          <a:xfrm>
            <a:off x="6519672" y="3446610"/>
            <a:ext cx="4762842"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What this code does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Implements </a:t>
            </a:r>
            <a:r>
              <a:rPr kumimoji="0" lang="en-US" altLang="en-US" sz="1800" i="0" u="none" strike="noStrike" cap="none" normalizeH="0" baseline="0" dirty="0">
                <a:ln>
                  <a:noFill/>
                </a:ln>
                <a:solidFill>
                  <a:schemeClr val="tx1"/>
                </a:solidFill>
                <a:effectLst/>
                <a:latin typeface="Arial" panose="020B0604020202020204" pitchFamily="34" charset="0"/>
              </a:rPr>
              <a:t>placeholder text (watermark) </a:t>
            </a:r>
            <a:r>
              <a:rPr kumimoji="0" lang="en-US" altLang="en-US" sz="1800" b="0" i="0" u="none" strike="noStrike" cap="none" normalizeH="0" baseline="0" dirty="0">
                <a:ln>
                  <a:noFill/>
                </a:ln>
                <a:solidFill>
                  <a:schemeClr val="tx1"/>
                </a:solidFill>
                <a:effectLst/>
                <a:latin typeface="Arial" panose="020B0604020202020204" pitchFamily="34" charset="0"/>
              </a:rPr>
              <a:t>for </a:t>
            </a:r>
          </a:p>
          <a:p>
            <a:pPr marL="0"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all input fields.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Hides placeholder when user types.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Improves </a:t>
            </a:r>
            <a:r>
              <a:rPr kumimoji="0" lang="en-US" altLang="en-US" sz="1800" i="0" u="none" strike="noStrike" cap="none" normalizeH="0" baseline="0" dirty="0">
                <a:ln>
                  <a:noFill/>
                </a:ln>
                <a:solidFill>
                  <a:schemeClr val="tx1"/>
                </a:solidFill>
                <a:effectLst/>
                <a:latin typeface="Arial" panose="020B0604020202020204" pitchFamily="34" charset="0"/>
              </a:rPr>
              <a:t>usability </a:t>
            </a:r>
            <a:r>
              <a:rPr kumimoji="0" lang="en-US" altLang="en-US" sz="1800" b="0" i="0" u="none" strike="noStrike" cap="none" normalizeH="0" baseline="0" dirty="0">
                <a:ln>
                  <a:noFill/>
                </a:ln>
                <a:solidFill>
                  <a:schemeClr val="tx1"/>
                </a:solidFill>
                <a:effectLst/>
                <a:latin typeface="Arial" panose="020B0604020202020204" pitchFamily="34" charset="0"/>
              </a:rPr>
              <a:t>and guides user input.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Rounded Corners 10">
            <a:extLst>
              <a:ext uri="{FF2B5EF4-FFF2-40B4-BE49-F238E27FC236}">
                <a16:creationId xmlns:a16="http://schemas.microsoft.com/office/drawing/2014/main" id="{8AB03B3F-D3F8-977D-1BFE-F8714EE81E43}"/>
              </a:ext>
            </a:extLst>
          </p:cNvPr>
          <p:cNvSpPr/>
          <p:nvPr/>
        </p:nvSpPr>
        <p:spPr>
          <a:xfrm>
            <a:off x="1371600" y="2590800"/>
            <a:ext cx="4724400" cy="3288792"/>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2" name="TextBox 11">
            <a:extLst>
              <a:ext uri="{FF2B5EF4-FFF2-40B4-BE49-F238E27FC236}">
                <a16:creationId xmlns:a16="http://schemas.microsoft.com/office/drawing/2014/main" id="{F666B6CA-8174-15FC-3E54-A6A88275656A}"/>
              </a:ext>
            </a:extLst>
          </p:cNvPr>
          <p:cNvSpPr txBox="1"/>
          <p:nvPr/>
        </p:nvSpPr>
        <p:spPr>
          <a:xfrm>
            <a:off x="1676400" y="2937933"/>
            <a:ext cx="4267200" cy="2862322"/>
          </a:xfrm>
          <a:prstGeom prst="rect">
            <a:avLst/>
          </a:prstGeom>
          <a:noFill/>
        </p:spPr>
        <p:txBody>
          <a:bodyPr wrap="square" rtlCol="0">
            <a:spAutoFit/>
          </a:bodyPr>
          <a:lstStyle/>
          <a:p>
            <a:r>
              <a:rPr lang="en-ZA" dirty="0"/>
              <a:t>private void </a:t>
            </a:r>
            <a:r>
              <a:rPr lang="en-ZA" dirty="0" err="1"/>
              <a:t>SetupPlaceholder</a:t>
            </a:r>
            <a:r>
              <a:rPr lang="en-ZA" dirty="0"/>
              <a:t>(</a:t>
            </a:r>
            <a:r>
              <a:rPr lang="en-ZA" dirty="0" err="1"/>
              <a:t>TextBox</a:t>
            </a:r>
            <a:r>
              <a:rPr lang="en-ZA" dirty="0"/>
              <a:t> </a:t>
            </a:r>
            <a:r>
              <a:rPr lang="en-ZA" dirty="0" err="1"/>
              <a:t>textBox</a:t>
            </a:r>
            <a:r>
              <a:rPr lang="en-ZA" dirty="0"/>
              <a:t>, </a:t>
            </a:r>
            <a:r>
              <a:rPr lang="en-ZA" dirty="0" err="1"/>
              <a:t>TextBlock</a:t>
            </a:r>
            <a:r>
              <a:rPr lang="en-ZA" dirty="0"/>
              <a:t> placeholder)</a:t>
            </a:r>
          </a:p>
          <a:p>
            <a:r>
              <a:rPr lang="en-ZA" dirty="0"/>
              <a:t>{</a:t>
            </a:r>
          </a:p>
          <a:p>
            <a:r>
              <a:rPr lang="en-ZA" dirty="0"/>
              <a:t>    </a:t>
            </a:r>
            <a:r>
              <a:rPr lang="en-ZA" dirty="0" err="1"/>
              <a:t>textBox.TextChanged</a:t>
            </a:r>
            <a:r>
              <a:rPr lang="en-ZA" dirty="0"/>
              <a:t> += (s, e) =&gt;</a:t>
            </a:r>
          </a:p>
          <a:p>
            <a:r>
              <a:rPr lang="en-ZA" dirty="0"/>
              <a:t>    {</a:t>
            </a:r>
          </a:p>
          <a:p>
            <a:r>
              <a:rPr lang="en-ZA" dirty="0"/>
              <a:t>        </a:t>
            </a:r>
            <a:r>
              <a:rPr lang="en-ZA" dirty="0" err="1"/>
              <a:t>placeholder.Visibility</a:t>
            </a:r>
            <a:r>
              <a:rPr lang="en-ZA" dirty="0"/>
              <a:t> = </a:t>
            </a:r>
            <a:r>
              <a:rPr lang="en-ZA" dirty="0" err="1"/>
              <a:t>string.IsNullOrWhiteSpace</a:t>
            </a:r>
            <a:r>
              <a:rPr lang="en-ZA" dirty="0"/>
              <a:t>(</a:t>
            </a:r>
            <a:r>
              <a:rPr lang="en-ZA" dirty="0" err="1"/>
              <a:t>textBox.Text</a:t>
            </a:r>
            <a:r>
              <a:rPr lang="en-ZA" dirty="0"/>
              <a:t>) ? </a:t>
            </a:r>
            <a:r>
              <a:rPr lang="en-ZA" dirty="0" err="1"/>
              <a:t>Visibility.Visible</a:t>
            </a:r>
            <a:r>
              <a:rPr lang="en-ZA" dirty="0"/>
              <a:t> : </a:t>
            </a:r>
            <a:r>
              <a:rPr lang="en-ZA" dirty="0" err="1"/>
              <a:t>Visibility.Hidden</a:t>
            </a:r>
            <a:r>
              <a:rPr lang="en-ZA" dirty="0"/>
              <a:t>;</a:t>
            </a:r>
          </a:p>
          <a:p>
            <a:r>
              <a:rPr lang="en-ZA" dirty="0"/>
              <a:t>    }</a:t>
            </a:r>
          </a:p>
          <a:p>
            <a:endParaRPr lang="en-ZA" dirty="0"/>
          </a:p>
        </p:txBody>
      </p:sp>
    </p:spTree>
    <p:extLst>
      <p:ext uri="{BB962C8B-B14F-4D97-AF65-F5344CB8AC3E}">
        <p14:creationId xmlns:p14="http://schemas.microsoft.com/office/powerpoint/2010/main" val="3758700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D5340-D907-1E9D-BFAF-7A1286DE89FF}"/>
              </a:ext>
            </a:extLst>
          </p:cNvPr>
          <p:cNvSpPr>
            <a:spLocks noGrp="1"/>
          </p:cNvSpPr>
          <p:nvPr>
            <p:ph type="title"/>
          </p:nvPr>
        </p:nvSpPr>
        <p:spPr>
          <a:xfrm>
            <a:off x="609600" y="978408"/>
            <a:ext cx="5166361" cy="1028192"/>
          </a:xfrm>
        </p:spPr>
        <p:txBody>
          <a:bodyPr>
            <a:normAutofit fontScale="90000"/>
          </a:bodyPr>
          <a:lstStyle/>
          <a:p>
            <a:pPr algn="ctr"/>
            <a:r>
              <a:rPr lang="en-ZA" dirty="0"/>
              <a:t>Lecturer Document Upload</a:t>
            </a:r>
          </a:p>
        </p:txBody>
      </p:sp>
      <p:sp>
        <p:nvSpPr>
          <p:cNvPr id="3" name="Content Placeholder 2">
            <a:extLst>
              <a:ext uri="{FF2B5EF4-FFF2-40B4-BE49-F238E27FC236}">
                <a16:creationId xmlns:a16="http://schemas.microsoft.com/office/drawing/2014/main" id="{6452DE4F-69B2-DAE5-53E4-02E49139E3AC}"/>
              </a:ext>
            </a:extLst>
          </p:cNvPr>
          <p:cNvSpPr>
            <a:spLocks noGrp="1"/>
          </p:cNvSpPr>
          <p:nvPr>
            <p:ph sz="half" idx="1"/>
          </p:nvPr>
        </p:nvSpPr>
        <p:spPr>
          <a:xfrm>
            <a:off x="505968" y="3298275"/>
            <a:ext cx="5166360" cy="2509859"/>
          </a:xfrm>
        </p:spPr>
        <p:txBody>
          <a:bodyPr/>
          <a:lstStyle/>
          <a:p>
            <a:pPr marL="0" indent="0">
              <a:buNone/>
            </a:pPr>
            <a:r>
              <a:rPr lang="en-US" b="1" dirty="0"/>
              <a:t>What this code does :</a:t>
            </a:r>
          </a:p>
          <a:p>
            <a:pPr marL="0" indent="0">
              <a:buNone/>
            </a:pPr>
            <a:r>
              <a:rPr lang="en-US" dirty="0"/>
              <a:t>Opens a file dialog for lecturer to select supporting documents. It </a:t>
            </a:r>
            <a:r>
              <a:rPr lang="en-ZA" dirty="0"/>
              <a:t>supports PDF, DOCX, XLSX. </a:t>
            </a:r>
            <a:r>
              <a:rPr lang="en-US" dirty="0"/>
              <a:t>Updates UI with uploaded document name. Ensures all claims have proof of work.</a:t>
            </a:r>
          </a:p>
          <a:p>
            <a:pPr marL="0" indent="0">
              <a:buNone/>
            </a:pPr>
            <a:endParaRPr lang="en-ZA" dirty="0"/>
          </a:p>
        </p:txBody>
      </p:sp>
      <p:sp>
        <p:nvSpPr>
          <p:cNvPr id="8" name="Rectangle: Rounded Corners 7">
            <a:extLst>
              <a:ext uri="{FF2B5EF4-FFF2-40B4-BE49-F238E27FC236}">
                <a16:creationId xmlns:a16="http://schemas.microsoft.com/office/drawing/2014/main" id="{D6E26F07-2A5D-24F9-8529-5388F63F90C9}"/>
              </a:ext>
            </a:extLst>
          </p:cNvPr>
          <p:cNvSpPr/>
          <p:nvPr/>
        </p:nvSpPr>
        <p:spPr>
          <a:xfrm>
            <a:off x="7467600" y="978408"/>
            <a:ext cx="4114800" cy="5363125"/>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9" name="TextBox 8">
            <a:extLst>
              <a:ext uri="{FF2B5EF4-FFF2-40B4-BE49-F238E27FC236}">
                <a16:creationId xmlns:a16="http://schemas.microsoft.com/office/drawing/2014/main" id="{F1C9EE17-613C-3F17-6F21-C9F80FAFBF12}"/>
              </a:ext>
            </a:extLst>
          </p:cNvPr>
          <p:cNvSpPr txBox="1"/>
          <p:nvPr/>
        </p:nvSpPr>
        <p:spPr>
          <a:xfrm>
            <a:off x="7890933" y="1674811"/>
            <a:ext cx="3327400" cy="3970318"/>
          </a:xfrm>
          <a:prstGeom prst="rect">
            <a:avLst/>
          </a:prstGeom>
          <a:noFill/>
        </p:spPr>
        <p:txBody>
          <a:bodyPr wrap="square" rtlCol="0">
            <a:spAutoFit/>
          </a:bodyPr>
          <a:lstStyle/>
          <a:p>
            <a:r>
              <a:rPr lang="en-ZA" dirty="0" err="1"/>
              <a:t>OpenFileDialog</a:t>
            </a:r>
            <a:r>
              <a:rPr lang="en-ZA" dirty="0"/>
              <a:t> </a:t>
            </a:r>
            <a:r>
              <a:rPr lang="en-ZA" dirty="0" err="1"/>
              <a:t>dlg</a:t>
            </a:r>
            <a:r>
              <a:rPr lang="en-ZA" dirty="0"/>
              <a:t> = new </a:t>
            </a:r>
            <a:r>
              <a:rPr lang="en-ZA" dirty="0" err="1"/>
              <a:t>OpenFileDialog</a:t>
            </a:r>
            <a:endParaRPr lang="en-ZA" dirty="0"/>
          </a:p>
          <a:p>
            <a:r>
              <a:rPr lang="en-ZA" dirty="0"/>
              <a:t>{</a:t>
            </a:r>
          </a:p>
          <a:p>
            <a:r>
              <a:rPr lang="en-ZA" dirty="0"/>
              <a:t>    Filter = "PDF, DOCX, XLSX Files|*.pdf;*.docx;*.xlsx",</a:t>
            </a:r>
          </a:p>
          <a:p>
            <a:r>
              <a:rPr lang="en-ZA" dirty="0"/>
              <a:t>    Multiselect = false</a:t>
            </a:r>
          </a:p>
          <a:p>
            <a:r>
              <a:rPr lang="en-ZA" dirty="0"/>
              <a:t>};</a:t>
            </a:r>
          </a:p>
          <a:p>
            <a:r>
              <a:rPr lang="en-ZA" dirty="0"/>
              <a:t>if (</a:t>
            </a:r>
            <a:r>
              <a:rPr lang="en-ZA" dirty="0" err="1"/>
              <a:t>dlg.ShowDialog</a:t>
            </a:r>
            <a:r>
              <a:rPr lang="en-ZA" dirty="0"/>
              <a:t>() == true)</a:t>
            </a:r>
          </a:p>
          <a:p>
            <a:r>
              <a:rPr lang="en-ZA" dirty="0"/>
              <a:t>{</a:t>
            </a:r>
          </a:p>
          <a:p>
            <a:r>
              <a:rPr lang="en-ZA" dirty="0"/>
              <a:t>    </a:t>
            </a:r>
            <a:r>
              <a:rPr lang="en-ZA" dirty="0" err="1"/>
              <a:t>uploadedDocument</a:t>
            </a:r>
            <a:r>
              <a:rPr lang="en-ZA" dirty="0"/>
              <a:t> = </a:t>
            </a:r>
            <a:r>
              <a:rPr lang="en-ZA" dirty="0" err="1"/>
              <a:t>dlg.SafeFileName</a:t>
            </a:r>
            <a:r>
              <a:rPr lang="en-ZA" dirty="0"/>
              <a:t>;</a:t>
            </a:r>
          </a:p>
          <a:p>
            <a:r>
              <a:rPr lang="en-ZA" dirty="0"/>
              <a:t>    </a:t>
            </a:r>
            <a:r>
              <a:rPr lang="en-ZA" dirty="0" err="1"/>
              <a:t>DocumentTextBlock.Text</a:t>
            </a:r>
            <a:r>
              <a:rPr lang="en-ZA" dirty="0"/>
              <a:t> = </a:t>
            </a:r>
            <a:r>
              <a:rPr lang="en-ZA" dirty="0" err="1"/>
              <a:t>uploadedDocument</a:t>
            </a:r>
            <a:r>
              <a:rPr lang="en-ZA" dirty="0"/>
              <a:t>;</a:t>
            </a:r>
          </a:p>
          <a:p>
            <a:r>
              <a:rPr lang="en-ZA" dirty="0"/>
              <a:t>}</a:t>
            </a:r>
          </a:p>
        </p:txBody>
      </p:sp>
    </p:spTree>
    <p:extLst>
      <p:ext uri="{BB962C8B-B14F-4D97-AF65-F5344CB8AC3E}">
        <p14:creationId xmlns:p14="http://schemas.microsoft.com/office/powerpoint/2010/main" val="3391427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BBA2E-A7CB-FF2C-F87B-84DC2010D163}"/>
              </a:ext>
            </a:extLst>
          </p:cNvPr>
          <p:cNvSpPr>
            <a:spLocks noGrp="1"/>
          </p:cNvSpPr>
          <p:nvPr>
            <p:ph type="title"/>
          </p:nvPr>
        </p:nvSpPr>
        <p:spPr>
          <a:xfrm>
            <a:off x="7340600" y="978408"/>
            <a:ext cx="4336288" cy="706459"/>
          </a:xfrm>
        </p:spPr>
        <p:txBody>
          <a:bodyPr>
            <a:normAutofit fontScale="90000"/>
          </a:bodyPr>
          <a:lstStyle/>
          <a:p>
            <a:r>
              <a:rPr lang="en-ZA" dirty="0"/>
              <a:t>Claim Submission Logic</a:t>
            </a:r>
          </a:p>
        </p:txBody>
      </p:sp>
      <p:sp>
        <p:nvSpPr>
          <p:cNvPr id="4" name="TextBox 3">
            <a:extLst>
              <a:ext uri="{FF2B5EF4-FFF2-40B4-BE49-F238E27FC236}">
                <a16:creationId xmlns:a16="http://schemas.microsoft.com/office/drawing/2014/main" id="{A88593FC-A2D8-7F26-B12B-1AF4D4E5D375}"/>
              </a:ext>
            </a:extLst>
          </p:cNvPr>
          <p:cNvSpPr txBox="1"/>
          <p:nvPr/>
        </p:nvSpPr>
        <p:spPr>
          <a:xfrm>
            <a:off x="7205133" y="2582333"/>
            <a:ext cx="4336288" cy="3139321"/>
          </a:xfrm>
          <a:prstGeom prst="rect">
            <a:avLst/>
          </a:prstGeom>
          <a:noFill/>
        </p:spPr>
        <p:txBody>
          <a:bodyPr wrap="square" rtlCol="0">
            <a:spAutoFit/>
          </a:bodyPr>
          <a:lstStyle/>
          <a:p>
            <a:r>
              <a:rPr lang="en-US" b="1" dirty="0"/>
              <a:t>What this code does: </a:t>
            </a:r>
          </a:p>
          <a:p>
            <a:endParaRPr lang="en-US" b="1" dirty="0"/>
          </a:p>
          <a:p>
            <a:pPr marL="285750" indent="-285750">
              <a:buFont typeface="Arial" panose="020B0604020202020204" pitchFamily="34" charset="0"/>
              <a:buChar char="•"/>
            </a:pPr>
            <a:r>
              <a:rPr lang="en-US" dirty="0"/>
              <a:t>Auto-calculates claim amount:      Hours × Rate.</a:t>
            </a:r>
          </a:p>
          <a:p>
            <a:pPr marL="285750" indent="-285750">
              <a:buFont typeface="Arial" panose="020B0604020202020204" pitchFamily="34" charset="0"/>
              <a:buChar char="•"/>
            </a:pPr>
            <a:r>
              <a:rPr lang="en-US" dirty="0"/>
              <a:t>Adds claim to </a:t>
            </a:r>
            <a:r>
              <a:rPr lang="en-US" dirty="0" err="1"/>
              <a:t>ObservableCollection</a:t>
            </a:r>
            <a:r>
              <a:rPr lang="en-US" dirty="0"/>
              <a:t>&lt;Claim&gt;</a:t>
            </a:r>
          </a:p>
          <a:p>
            <a:pPr marL="285750" indent="-285750">
              <a:buFont typeface="Arial" panose="020B0604020202020204" pitchFamily="34" charset="0"/>
              <a:buChar char="•"/>
            </a:pPr>
            <a:r>
              <a:rPr lang="en-US" dirty="0"/>
              <a:t>Sets initial status to Pending or Pending Review based on validation.</a:t>
            </a:r>
          </a:p>
          <a:p>
            <a:pPr marL="285750" indent="-285750">
              <a:buFont typeface="Arial" panose="020B0604020202020204" pitchFamily="34" charset="0"/>
              <a:buChar char="•"/>
            </a:pPr>
            <a:r>
              <a:rPr lang="en-US" dirty="0"/>
              <a:t>Resets input fields after submission.</a:t>
            </a:r>
          </a:p>
          <a:p>
            <a:pPr marL="285750" indent="-285750">
              <a:buFont typeface="Arial" panose="020B0604020202020204" pitchFamily="34" charset="0"/>
              <a:buChar char="•"/>
            </a:pPr>
            <a:r>
              <a:rPr lang="en-US" dirty="0"/>
              <a:t>Provides real-time update in DataGrid.</a:t>
            </a:r>
          </a:p>
          <a:p>
            <a:endParaRPr lang="en-ZA" dirty="0"/>
          </a:p>
        </p:txBody>
      </p:sp>
      <p:sp>
        <p:nvSpPr>
          <p:cNvPr id="6" name="Rectangle: Rounded Corners 5">
            <a:extLst>
              <a:ext uri="{FF2B5EF4-FFF2-40B4-BE49-F238E27FC236}">
                <a16:creationId xmlns:a16="http://schemas.microsoft.com/office/drawing/2014/main" id="{96223EA0-B605-8A8A-82A9-751955511735}"/>
              </a:ext>
            </a:extLst>
          </p:cNvPr>
          <p:cNvSpPr/>
          <p:nvPr/>
        </p:nvSpPr>
        <p:spPr>
          <a:xfrm>
            <a:off x="1143000" y="978408"/>
            <a:ext cx="4648200" cy="5354659"/>
          </a:xfrm>
          <a:prstGeom prst="round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7" name="TextBox 6">
            <a:extLst>
              <a:ext uri="{FF2B5EF4-FFF2-40B4-BE49-F238E27FC236}">
                <a16:creationId xmlns:a16="http://schemas.microsoft.com/office/drawing/2014/main" id="{0F1FFF61-0B54-CA53-B29E-58B40170A1BF}"/>
              </a:ext>
            </a:extLst>
          </p:cNvPr>
          <p:cNvSpPr txBox="1"/>
          <p:nvPr/>
        </p:nvSpPr>
        <p:spPr>
          <a:xfrm>
            <a:off x="1748367" y="2028335"/>
            <a:ext cx="3666067" cy="3416320"/>
          </a:xfrm>
          <a:prstGeom prst="rect">
            <a:avLst/>
          </a:prstGeom>
          <a:noFill/>
        </p:spPr>
        <p:txBody>
          <a:bodyPr wrap="square" rtlCol="0">
            <a:spAutoFit/>
          </a:bodyPr>
          <a:lstStyle/>
          <a:p>
            <a:r>
              <a:rPr lang="en-ZA" dirty="0" err="1"/>
              <a:t>Claims.Add</a:t>
            </a:r>
            <a:r>
              <a:rPr lang="en-ZA" dirty="0"/>
              <a:t>(new Claim</a:t>
            </a:r>
          </a:p>
          <a:p>
            <a:r>
              <a:rPr lang="en-ZA" dirty="0"/>
              <a:t>{</a:t>
            </a:r>
          </a:p>
          <a:p>
            <a:r>
              <a:rPr lang="en-ZA" dirty="0"/>
              <a:t>    </a:t>
            </a:r>
            <a:r>
              <a:rPr lang="en-ZA" dirty="0" err="1"/>
              <a:t>LecturerName</a:t>
            </a:r>
            <a:r>
              <a:rPr lang="en-ZA" dirty="0"/>
              <a:t> = </a:t>
            </a:r>
            <a:r>
              <a:rPr lang="en-ZA" dirty="0" err="1"/>
              <a:t>LecturerTextBox.Text</a:t>
            </a:r>
            <a:r>
              <a:rPr lang="en-ZA" dirty="0"/>
              <a:t>,</a:t>
            </a:r>
          </a:p>
          <a:p>
            <a:r>
              <a:rPr lang="en-ZA" dirty="0"/>
              <a:t>    </a:t>
            </a:r>
            <a:r>
              <a:rPr lang="en-ZA" dirty="0" err="1"/>
              <a:t>HoursWorked</a:t>
            </a:r>
            <a:r>
              <a:rPr lang="en-ZA" dirty="0"/>
              <a:t> = hours,</a:t>
            </a:r>
          </a:p>
          <a:p>
            <a:r>
              <a:rPr lang="en-ZA" dirty="0"/>
              <a:t>    </a:t>
            </a:r>
            <a:r>
              <a:rPr lang="en-ZA" dirty="0" err="1"/>
              <a:t>HourlyRate</a:t>
            </a:r>
            <a:r>
              <a:rPr lang="en-ZA" dirty="0"/>
              <a:t> = rate,</a:t>
            </a:r>
          </a:p>
          <a:p>
            <a:r>
              <a:rPr lang="en-ZA" dirty="0"/>
              <a:t>    </a:t>
            </a:r>
            <a:r>
              <a:rPr lang="en-ZA" dirty="0" err="1"/>
              <a:t>ClaimAmount</a:t>
            </a:r>
            <a:r>
              <a:rPr lang="en-ZA" dirty="0"/>
              <a:t> = hours * rate,</a:t>
            </a:r>
          </a:p>
          <a:p>
            <a:r>
              <a:rPr lang="en-ZA" dirty="0"/>
              <a:t>    Status = status,</a:t>
            </a:r>
          </a:p>
          <a:p>
            <a:r>
              <a:rPr lang="en-ZA" dirty="0"/>
              <a:t>    </a:t>
            </a:r>
            <a:r>
              <a:rPr lang="en-ZA" dirty="0" err="1"/>
              <a:t>DocumentName</a:t>
            </a:r>
            <a:r>
              <a:rPr lang="en-ZA" dirty="0"/>
              <a:t> = </a:t>
            </a:r>
            <a:r>
              <a:rPr lang="en-ZA" dirty="0" err="1"/>
              <a:t>uploadedDocument</a:t>
            </a:r>
            <a:endParaRPr lang="en-ZA" dirty="0"/>
          </a:p>
          <a:p>
            <a:r>
              <a:rPr lang="en-ZA" dirty="0"/>
              <a:t>});</a:t>
            </a:r>
          </a:p>
          <a:p>
            <a:endParaRPr lang="en-ZA" dirty="0"/>
          </a:p>
        </p:txBody>
      </p:sp>
    </p:spTree>
    <p:extLst>
      <p:ext uri="{BB962C8B-B14F-4D97-AF65-F5344CB8AC3E}">
        <p14:creationId xmlns:p14="http://schemas.microsoft.com/office/powerpoint/2010/main" val="1175429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218CE-9740-996C-182B-13352D68E40F}"/>
              </a:ext>
            </a:extLst>
          </p:cNvPr>
          <p:cNvSpPr>
            <a:spLocks noGrp="1"/>
          </p:cNvSpPr>
          <p:nvPr>
            <p:ph type="title"/>
          </p:nvPr>
        </p:nvSpPr>
        <p:spPr>
          <a:xfrm>
            <a:off x="1113874" y="1557867"/>
            <a:ext cx="2814659" cy="2535260"/>
          </a:xfrm>
        </p:spPr>
        <p:txBody>
          <a:bodyPr/>
          <a:lstStyle/>
          <a:p>
            <a:r>
              <a:rPr lang="en-ZA" dirty="0"/>
              <a:t>Approval and Rejection</a:t>
            </a:r>
          </a:p>
        </p:txBody>
      </p:sp>
      <p:sp>
        <p:nvSpPr>
          <p:cNvPr id="3" name="Rectangle: Rounded Corners 2">
            <a:extLst>
              <a:ext uri="{FF2B5EF4-FFF2-40B4-BE49-F238E27FC236}">
                <a16:creationId xmlns:a16="http://schemas.microsoft.com/office/drawing/2014/main" id="{ED03868C-9BF6-CDC3-00F9-8C4207AD6205}"/>
              </a:ext>
            </a:extLst>
          </p:cNvPr>
          <p:cNvSpPr/>
          <p:nvPr/>
        </p:nvSpPr>
        <p:spPr>
          <a:xfrm>
            <a:off x="4944532" y="1557867"/>
            <a:ext cx="6519335" cy="2717800"/>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 name="TextBox 3">
            <a:extLst>
              <a:ext uri="{FF2B5EF4-FFF2-40B4-BE49-F238E27FC236}">
                <a16:creationId xmlns:a16="http://schemas.microsoft.com/office/drawing/2014/main" id="{A3ED136B-F7AD-F23A-12F1-4DAF31AE46D7}"/>
              </a:ext>
            </a:extLst>
          </p:cNvPr>
          <p:cNvSpPr txBox="1"/>
          <p:nvPr/>
        </p:nvSpPr>
        <p:spPr>
          <a:xfrm>
            <a:off x="5215466" y="1879600"/>
            <a:ext cx="6976534" cy="2308324"/>
          </a:xfrm>
          <a:prstGeom prst="rect">
            <a:avLst/>
          </a:prstGeom>
          <a:noFill/>
        </p:spPr>
        <p:txBody>
          <a:bodyPr wrap="square" rtlCol="0">
            <a:spAutoFit/>
          </a:bodyPr>
          <a:lstStyle/>
          <a:p>
            <a:r>
              <a:rPr lang="en-ZA" dirty="0"/>
              <a:t>private void </a:t>
            </a:r>
            <a:r>
              <a:rPr lang="en-ZA" dirty="0" err="1"/>
              <a:t>Approve_Click</a:t>
            </a:r>
            <a:r>
              <a:rPr lang="en-ZA" dirty="0"/>
              <a:t>(object sender, </a:t>
            </a:r>
            <a:r>
              <a:rPr lang="en-ZA" dirty="0" err="1"/>
              <a:t>RoutedEventArgs</a:t>
            </a:r>
            <a:r>
              <a:rPr lang="en-ZA" dirty="0"/>
              <a:t> e)</a:t>
            </a:r>
          </a:p>
          <a:p>
            <a:r>
              <a:rPr lang="en-ZA" dirty="0"/>
              <a:t>{</a:t>
            </a:r>
          </a:p>
          <a:p>
            <a:r>
              <a:rPr lang="en-ZA" dirty="0"/>
              <a:t>    if (</a:t>
            </a:r>
            <a:r>
              <a:rPr lang="en-ZA" dirty="0" err="1"/>
              <a:t>ClaimsDataGrid.SelectedItem</a:t>
            </a:r>
            <a:r>
              <a:rPr lang="en-ZA" dirty="0"/>
              <a:t> is Claim claim)</a:t>
            </a:r>
          </a:p>
          <a:p>
            <a:r>
              <a:rPr lang="en-ZA" dirty="0"/>
              <a:t>    {</a:t>
            </a:r>
          </a:p>
          <a:p>
            <a:r>
              <a:rPr lang="en-ZA" dirty="0"/>
              <a:t>        </a:t>
            </a:r>
            <a:r>
              <a:rPr lang="en-ZA" dirty="0" err="1"/>
              <a:t>claim.Status</a:t>
            </a:r>
            <a:r>
              <a:rPr lang="en-ZA" dirty="0"/>
              <a:t> = "Approved";</a:t>
            </a:r>
          </a:p>
          <a:p>
            <a:r>
              <a:rPr lang="en-ZA" dirty="0"/>
              <a:t>        </a:t>
            </a:r>
            <a:r>
              <a:rPr lang="en-ZA" dirty="0" err="1"/>
              <a:t>ClaimsDataGrid.Items.Refresh</a:t>
            </a:r>
            <a:r>
              <a:rPr lang="en-ZA" dirty="0"/>
              <a:t>();</a:t>
            </a:r>
          </a:p>
          <a:p>
            <a:r>
              <a:rPr lang="en-ZA" dirty="0"/>
              <a:t>    }</a:t>
            </a:r>
          </a:p>
          <a:p>
            <a:r>
              <a:rPr lang="en-ZA" dirty="0"/>
              <a:t>}</a:t>
            </a:r>
          </a:p>
        </p:txBody>
      </p:sp>
      <p:sp>
        <p:nvSpPr>
          <p:cNvPr id="5" name="TextBox 4">
            <a:extLst>
              <a:ext uri="{FF2B5EF4-FFF2-40B4-BE49-F238E27FC236}">
                <a16:creationId xmlns:a16="http://schemas.microsoft.com/office/drawing/2014/main" id="{AB1D02F5-B8CE-3727-E812-203EE67FB1A9}"/>
              </a:ext>
            </a:extLst>
          </p:cNvPr>
          <p:cNvSpPr txBox="1"/>
          <p:nvPr/>
        </p:nvSpPr>
        <p:spPr>
          <a:xfrm>
            <a:off x="804333" y="4521199"/>
            <a:ext cx="6604000" cy="2031325"/>
          </a:xfrm>
          <a:prstGeom prst="rect">
            <a:avLst/>
          </a:prstGeom>
          <a:noFill/>
        </p:spPr>
        <p:txBody>
          <a:bodyPr wrap="square" rtlCol="0">
            <a:spAutoFit/>
          </a:bodyPr>
          <a:lstStyle/>
          <a:p>
            <a:r>
              <a:rPr lang="en-US" b="1" dirty="0"/>
              <a:t>What this code does :</a:t>
            </a:r>
          </a:p>
          <a:p>
            <a:endParaRPr lang="en-US" b="1" dirty="0"/>
          </a:p>
          <a:p>
            <a:pPr marL="285750" indent="-285750">
              <a:buFont typeface="Arial" panose="020B0604020202020204" pitchFamily="34" charset="0"/>
              <a:buChar char="•"/>
            </a:pPr>
            <a:r>
              <a:rPr lang="en-US" dirty="0"/>
              <a:t>Coordinator/Manager approves or rejects claims with one click.</a:t>
            </a:r>
          </a:p>
          <a:p>
            <a:pPr marL="285750" indent="-285750">
              <a:buFont typeface="Arial" panose="020B0604020202020204" pitchFamily="34" charset="0"/>
              <a:buChar char="•"/>
            </a:pPr>
            <a:r>
              <a:rPr lang="en-US" dirty="0"/>
              <a:t>Updates claim status in real-time</a:t>
            </a:r>
            <a:r>
              <a:rPr lang="en-US" b="1" dirty="0"/>
              <a:t>.</a:t>
            </a:r>
          </a:p>
          <a:p>
            <a:pPr marL="285750" indent="-285750">
              <a:buFont typeface="Arial" panose="020B0604020202020204" pitchFamily="34" charset="0"/>
              <a:buChar char="•"/>
            </a:pPr>
            <a:r>
              <a:rPr lang="en-US" dirty="0"/>
              <a:t>Simplifies approval workflow and reduces errors</a:t>
            </a:r>
          </a:p>
          <a:p>
            <a:endParaRPr lang="en-ZA" dirty="0"/>
          </a:p>
        </p:txBody>
      </p:sp>
    </p:spTree>
    <p:extLst>
      <p:ext uri="{BB962C8B-B14F-4D97-AF65-F5344CB8AC3E}">
        <p14:creationId xmlns:p14="http://schemas.microsoft.com/office/powerpoint/2010/main" val="996891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EE597-112A-5428-C9EE-4466DDC2D6E4}"/>
              </a:ext>
            </a:extLst>
          </p:cNvPr>
          <p:cNvSpPr>
            <a:spLocks noGrp="1"/>
          </p:cNvSpPr>
          <p:nvPr>
            <p:ph type="title"/>
          </p:nvPr>
        </p:nvSpPr>
        <p:spPr>
          <a:xfrm>
            <a:off x="948267" y="2328333"/>
            <a:ext cx="3886200" cy="3699934"/>
          </a:xfrm>
        </p:spPr>
        <p:txBody>
          <a:bodyPr>
            <a:normAutofit/>
          </a:bodyPr>
          <a:lstStyle/>
          <a:p>
            <a:r>
              <a:rPr lang="en-ZA" dirty="0"/>
              <a:t>Automated Criteria Check</a:t>
            </a:r>
          </a:p>
        </p:txBody>
      </p:sp>
      <p:sp>
        <p:nvSpPr>
          <p:cNvPr id="3" name="Rectangle: Rounded Corners 2">
            <a:extLst>
              <a:ext uri="{FF2B5EF4-FFF2-40B4-BE49-F238E27FC236}">
                <a16:creationId xmlns:a16="http://schemas.microsoft.com/office/drawing/2014/main" id="{2FA379D7-917F-8242-0B6D-9C52052CF1E4}"/>
              </a:ext>
            </a:extLst>
          </p:cNvPr>
          <p:cNvSpPr/>
          <p:nvPr/>
        </p:nvSpPr>
        <p:spPr>
          <a:xfrm>
            <a:off x="6104467" y="4178300"/>
            <a:ext cx="5130800" cy="2548467"/>
          </a:xfrm>
          <a:prstGeom prst="round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4" name="TextBox 3">
            <a:extLst>
              <a:ext uri="{FF2B5EF4-FFF2-40B4-BE49-F238E27FC236}">
                <a16:creationId xmlns:a16="http://schemas.microsoft.com/office/drawing/2014/main" id="{1ADCDF4F-E398-3F89-80FE-0AD170B8DB64}"/>
              </a:ext>
            </a:extLst>
          </p:cNvPr>
          <p:cNvSpPr txBox="1"/>
          <p:nvPr/>
        </p:nvSpPr>
        <p:spPr>
          <a:xfrm>
            <a:off x="7027333" y="4946712"/>
            <a:ext cx="4216400" cy="1200329"/>
          </a:xfrm>
          <a:prstGeom prst="rect">
            <a:avLst/>
          </a:prstGeom>
          <a:noFill/>
        </p:spPr>
        <p:txBody>
          <a:bodyPr wrap="square" rtlCol="0">
            <a:spAutoFit/>
          </a:bodyPr>
          <a:lstStyle/>
          <a:p>
            <a:r>
              <a:rPr lang="en-US" dirty="0"/>
              <a:t>if (hours &gt; 160 || rate &gt; 500)</a:t>
            </a:r>
          </a:p>
          <a:p>
            <a:r>
              <a:rPr lang="en-US" dirty="0"/>
              <a:t>{</a:t>
            </a:r>
          </a:p>
          <a:p>
            <a:r>
              <a:rPr lang="en-US" dirty="0"/>
              <a:t>    status = "Pending Review";</a:t>
            </a:r>
          </a:p>
          <a:p>
            <a:r>
              <a:rPr lang="en-US" dirty="0"/>
              <a:t>}</a:t>
            </a:r>
          </a:p>
        </p:txBody>
      </p:sp>
      <p:sp>
        <p:nvSpPr>
          <p:cNvPr id="5" name="TextBox 4">
            <a:extLst>
              <a:ext uri="{FF2B5EF4-FFF2-40B4-BE49-F238E27FC236}">
                <a16:creationId xmlns:a16="http://schemas.microsoft.com/office/drawing/2014/main" id="{67ABE388-6785-2627-61F6-A1A8FA8DD651}"/>
              </a:ext>
            </a:extLst>
          </p:cNvPr>
          <p:cNvSpPr txBox="1"/>
          <p:nvPr/>
        </p:nvSpPr>
        <p:spPr>
          <a:xfrm>
            <a:off x="5965279" y="971540"/>
            <a:ext cx="4330187" cy="3416320"/>
          </a:xfrm>
          <a:prstGeom prst="rect">
            <a:avLst/>
          </a:prstGeom>
          <a:noFill/>
        </p:spPr>
        <p:txBody>
          <a:bodyPr wrap="square" rtlCol="0">
            <a:spAutoFit/>
          </a:bodyPr>
          <a:lstStyle/>
          <a:p>
            <a:r>
              <a:rPr lang="en-US" b="1" dirty="0"/>
              <a:t>What this code does:</a:t>
            </a:r>
          </a:p>
          <a:p>
            <a:endParaRPr lang="en-US" b="1" dirty="0"/>
          </a:p>
          <a:p>
            <a:pPr marL="285750" indent="-285750">
              <a:buFont typeface="Arial" panose="020B0604020202020204" pitchFamily="34" charset="0"/>
              <a:buChar char="•"/>
            </a:pPr>
            <a:r>
              <a:rPr lang="en-US" dirty="0"/>
              <a:t>Implements predefined rules for automatic validation:</a:t>
            </a:r>
          </a:p>
          <a:p>
            <a:r>
              <a:rPr lang="en-US" dirty="0"/>
              <a:t> Max 160 hours/month</a:t>
            </a:r>
          </a:p>
          <a:p>
            <a:r>
              <a:rPr lang="en-US" dirty="0"/>
              <a:t> Hourly rate ≤ 500</a:t>
            </a:r>
          </a:p>
          <a:p>
            <a:pPr marL="285750" indent="-285750">
              <a:buFont typeface="Arial" panose="020B0604020202020204" pitchFamily="34" charset="0"/>
              <a:buChar char="•"/>
            </a:pPr>
            <a:r>
              <a:rPr lang="en-US" dirty="0"/>
              <a:t>Claims outside criteria flagged as Pending Review.</a:t>
            </a:r>
          </a:p>
          <a:p>
            <a:pPr marL="285750" indent="-285750">
              <a:buFont typeface="Arial" panose="020B0604020202020204" pitchFamily="34" charset="0"/>
              <a:buChar char="•"/>
            </a:pPr>
            <a:r>
              <a:rPr lang="en-US" dirty="0"/>
              <a:t>Adds automation to reduce manual checking</a:t>
            </a:r>
          </a:p>
          <a:p>
            <a:endParaRPr lang="en-US" dirty="0"/>
          </a:p>
          <a:p>
            <a:r>
              <a:rPr lang="en-ZA" dirty="0"/>
              <a:t>  </a:t>
            </a:r>
          </a:p>
        </p:txBody>
      </p:sp>
    </p:spTree>
    <p:extLst>
      <p:ext uri="{BB962C8B-B14F-4D97-AF65-F5344CB8AC3E}">
        <p14:creationId xmlns:p14="http://schemas.microsoft.com/office/powerpoint/2010/main" val="1971570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60DCE-14E8-5B8B-943B-F3BA0F3DC770}"/>
              </a:ext>
            </a:extLst>
          </p:cNvPr>
          <p:cNvSpPr>
            <a:spLocks noGrp="1"/>
          </p:cNvSpPr>
          <p:nvPr>
            <p:ph type="title"/>
          </p:nvPr>
        </p:nvSpPr>
        <p:spPr>
          <a:xfrm>
            <a:off x="2460074" y="950635"/>
            <a:ext cx="6345259" cy="1095925"/>
          </a:xfrm>
        </p:spPr>
        <p:txBody>
          <a:bodyPr/>
          <a:lstStyle/>
          <a:p>
            <a:pPr algn="ctr"/>
            <a:r>
              <a:rPr lang="en-ZA" dirty="0"/>
              <a:t>HR Report Generation</a:t>
            </a:r>
          </a:p>
        </p:txBody>
      </p:sp>
      <p:sp>
        <p:nvSpPr>
          <p:cNvPr id="4" name="Rectangle: Rounded Corners 3">
            <a:extLst>
              <a:ext uri="{FF2B5EF4-FFF2-40B4-BE49-F238E27FC236}">
                <a16:creationId xmlns:a16="http://schemas.microsoft.com/office/drawing/2014/main" id="{D6FAA9FC-E44A-A307-A61F-7C32B811DD6A}"/>
              </a:ext>
            </a:extLst>
          </p:cNvPr>
          <p:cNvSpPr/>
          <p:nvPr/>
        </p:nvSpPr>
        <p:spPr>
          <a:xfrm>
            <a:off x="6794500" y="2413337"/>
            <a:ext cx="3327400" cy="3860801"/>
          </a:xfrm>
          <a:prstGeom prst="round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5" name="TextBox 4">
            <a:extLst>
              <a:ext uri="{FF2B5EF4-FFF2-40B4-BE49-F238E27FC236}">
                <a16:creationId xmlns:a16="http://schemas.microsoft.com/office/drawing/2014/main" id="{A676D6C9-C975-A13F-88AE-68C9DA978484}"/>
              </a:ext>
            </a:extLst>
          </p:cNvPr>
          <p:cNvSpPr txBox="1"/>
          <p:nvPr/>
        </p:nvSpPr>
        <p:spPr>
          <a:xfrm>
            <a:off x="7319433" y="3328074"/>
            <a:ext cx="2692400" cy="2031325"/>
          </a:xfrm>
          <a:prstGeom prst="rect">
            <a:avLst/>
          </a:prstGeom>
          <a:noFill/>
        </p:spPr>
        <p:txBody>
          <a:bodyPr wrap="square" rtlCol="0">
            <a:spAutoFit/>
          </a:bodyPr>
          <a:lstStyle/>
          <a:p>
            <a:r>
              <a:rPr lang="en-US" dirty="0"/>
              <a:t>var </a:t>
            </a:r>
            <a:r>
              <a:rPr lang="en-US" dirty="0" err="1"/>
              <a:t>approvedClaims</a:t>
            </a:r>
            <a:r>
              <a:rPr lang="en-US" dirty="0"/>
              <a:t> = </a:t>
            </a:r>
            <a:r>
              <a:rPr lang="en-US" dirty="0" err="1"/>
              <a:t>Claims.Where</a:t>
            </a:r>
            <a:r>
              <a:rPr lang="en-US" dirty="0"/>
              <a:t>(c =&gt; </a:t>
            </a:r>
            <a:r>
              <a:rPr lang="en-US" dirty="0" err="1"/>
              <a:t>c.Status</a:t>
            </a:r>
            <a:r>
              <a:rPr lang="en-US" dirty="0"/>
              <a:t> == "Approved").</a:t>
            </a:r>
            <a:r>
              <a:rPr lang="en-US" dirty="0" err="1"/>
              <a:t>ToList</a:t>
            </a:r>
            <a:r>
              <a:rPr lang="en-US" dirty="0"/>
              <a:t>();</a:t>
            </a:r>
          </a:p>
          <a:p>
            <a:r>
              <a:rPr lang="en-US" dirty="0"/>
              <a:t>double </a:t>
            </a:r>
            <a:r>
              <a:rPr lang="en-US" dirty="0" err="1"/>
              <a:t>totalPayout</a:t>
            </a:r>
            <a:r>
              <a:rPr lang="en-US" dirty="0"/>
              <a:t> = </a:t>
            </a:r>
            <a:r>
              <a:rPr lang="en-US" dirty="0" err="1"/>
              <a:t>approvedClaims.Sum</a:t>
            </a:r>
            <a:r>
              <a:rPr lang="en-US" dirty="0"/>
              <a:t>(c =&gt; </a:t>
            </a:r>
            <a:r>
              <a:rPr lang="en-US" dirty="0" err="1"/>
              <a:t>c.ClaimAmount</a:t>
            </a:r>
            <a:r>
              <a:rPr lang="en-US" dirty="0"/>
              <a:t>);</a:t>
            </a:r>
          </a:p>
        </p:txBody>
      </p:sp>
      <p:sp>
        <p:nvSpPr>
          <p:cNvPr id="6" name="TextBox 5">
            <a:extLst>
              <a:ext uri="{FF2B5EF4-FFF2-40B4-BE49-F238E27FC236}">
                <a16:creationId xmlns:a16="http://schemas.microsoft.com/office/drawing/2014/main" id="{49A988D5-AC8A-80A4-1E80-7FD35024817C}"/>
              </a:ext>
            </a:extLst>
          </p:cNvPr>
          <p:cNvSpPr txBox="1"/>
          <p:nvPr/>
        </p:nvSpPr>
        <p:spPr>
          <a:xfrm>
            <a:off x="1227666" y="3189574"/>
            <a:ext cx="3818468" cy="2862322"/>
          </a:xfrm>
          <a:prstGeom prst="rect">
            <a:avLst/>
          </a:prstGeom>
          <a:noFill/>
        </p:spPr>
        <p:txBody>
          <a:bodyPr wrap="square" rtlCol="0">
            <a:spAutoFit/>
          </a:bodyPr>
          <a:lstStyle/>
          <a:p>
            <a:r>
              <a:rPr lang="en-US" b="1" dirty="0"/>
              <a:t>What this code does :</a:t>
            </a:r>
          </a:p>
          <a:p>
            <a:endParaRPr lang="en-US" b="1" dirty="0"/>
          </a:p>
          <a:p>
            <a:r>
              <a:rPr lang="en-US" dirty="0"/>
              <a:t>HR/Admin can generate a summary report of approved claims.</a:t>
            </a:r>
          </a:p>
          <a:p>
            <a:r>
              <a:rPr lang="en-ZA" dirty="0"/>
              <a:t>Calculates total payout automatically.</a:t>
            </a:r>
          </a:p>
          <a:p>
            <a:r>
              <a:rPr lang="en-US" dirty="0"/>
              <a:t>Displays all approved claims with lecturer details.</a:t>
            </a:r>
          </a:p>
          <a:p>
            <a:r>
              <a:rPr lang="en-ZA" dirty="0"/>
              <a:t>Supports administrative efficiency.</a:t>
            </a:r>
          </a:p>
          <a:p>
            <a:endParaRPr lang="en-ZA" dirty="0"/>
          </a:p>
        </p:txBody>
      </p:sp>
    </p:spTree>
    <p:extLst>
      <p:ext uri="{BB962C8B-B14F-4D97-AF65-F5344CB8AC3E}">
        <p14:creationId xmlns:p14="http://schemas.microsoft.com/office/powerpoint/2010/main" val="2685974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03FCE-9759-A108-B3B0-DEDFF0E48E2B}"/>
              </a:ext>
            </a:extLst>
          </p:cNvPr>
          <p:cNvSpPr>
            <a:spLocks noGrp="1"/>
          </p:cNvSpPr>
          <p:nvPr>
            <p:ph type="title"/>
          </p:nvPr>
        </p:nvSpPr>
        <p:spPr>
          <a:xfrm>
            <a:off x="521208" y="978408"/>
            <a:ext cx="11155680" cy="867325"/>
          </a:xfrm>
        </p:spPr>
        <p:txBody>
          <a:bodyPr/>
          <a:lstStyle/>
          <a:p>
            <a:pPr algn="ctr"/>
            <a:r>
              <a:rPr lang="en-ZA" dirty="0"/>
              <a:t>Claim Class Structure</a:t>
            </a:r>
          </a:p>
        </p:txBody>
      </p:sp>
      <p:sp>
        <p:nvSpPr>
          <p:cNvPr id="3" name="Rectangle: Rounded Corners 2">
            <a:extLst>
              <a:ext uri="{FF2B5EF4-FFF2-40B4-BE49-F238E27FC236}">
                <a16:creationId xmlns:a16="http://schemas.microsoft.com/office/drawing/2014/main" id="{E6687E8A-4E35-9A66-DA33-D51503DE1D0A}"/>
              </a:ext>
            </a:extLst>
          </p:cNvPr>
          <p:cNvSpPr/>
          <p:nvPr/>
        </p:nvSpPr>
        <p:spPr>
          <a:xfrm>
            <a:off x="736600" y="1937392"/>
            <a:ext cx="4301067" cy="4715933"/>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4" name="TextBox 3">
            <a:extLst>
              <a:ext uri="{FF2B5EF4-FFF2-40B4-BE49-F238E27FC236}">
                <a16:creationId xmlns:a16="http://schemas.microsoft.com/office/drawing/2014/main" id="{7316B16D-4688-5917-5609-C35323B7BBC4}"/>
              </a:ext>
            </a:extLst>
          </p:cNvPr>
          <p:cNvSpPr txBox="1"/>
          <p:nvPr/>
        </p:nvSpPr>
        <p:spPr>
          <a:xfrm>
            <a:off x="1320800" y="2171699"/>
            <a:ext cx="3361267" cy="4247317"/>
          </a:xfrm>
          <a:prstGeom prst="rect">
            <a:avLst/>
          </a:prstGeom>
          <a:noFill/>
        </p:spPr>
        <p:txBody>
          <a:bodyPr wrap="square" rtlCol="0">
            <a:spAutoFit/>
          </a:bodyPr>
          <a:lstStyle/>
          <a:p>
            <a:r>
              <a:rPr lang="en-ZA" dirty="0"/>
              <a:t>public class Claim</a:t>
            </a:r>
          </a:p>
          <a:p>
            <a:r>
              <a:rPr lang="en-ZA" dirty="0"/>
              <a:t>{</a:t>
            </a:r>
          </a:p>
          <a:p>
            <a:r>
              <a:rPr lang="en-ZA" dirty="0"/>
              <a:t>    public string </a:t>
            </a:r>
            <a:r>
              <a:rPr lang="en-ZA" dirty="0" err="1"/>
              <a:t>LecturerName</a:t>
            </a:r>
            <a:r>
              <a:rPr lang="en-ZA" dirty="0"/>
              <a:t> { get; set; }</a:t>
            </a:r>
          </a:p>
          <a:p>
            <a:r>
              <a:rPr lang="en-ZA" dirty="0"/>
              <a:t>    public double </a:t>
            </a:r>
            <a:r>
              <a:rPr lang="en-ZA" dirty="0" err="1"/>
              <a:t>HoursWorked</a:t>
            </a:r>
            <a:r>
              <a:rPr lang="en-ZA" dirty="0"/>
              <a:t> { get; set; }</a:t>
            </a:r>
          </a:p>
          <a:p>
            <a:r>
              <a:rPr lang="en-ZA" dirty="0"/>
              <a:t>    public double </a:t>
            </a:r>
            <a:r>
              <a:rPr lang="en-ZA" dirty="0" err="1"/>
              <a:t>HourlyRate</a:t>
            </a:r>
            <a:r>
              <a:rPr lang="en-ZA" dirty="0"/>
              <a:t> { get; set; }</a:t>
            </a:r>
          </a:p>
          <a:p>
            <a:r>
              <a:rPr lang="en-ZA" dirty="0"/>
              <a:t>    public double </a:t>
            </a:r>
            <a:r>
              <a:rPr lang="en-ZA" dirty="0" err="1"/>
              <a:t>ClaimAmount</a:t>
            </a:r>
            <a:r>
              <a:rPr lang="en-ZA" dirty="0"/>
              <a:t> { get; set; }</a:t>
            </a:r>
          </a:p>
          <a:p>
            <a:r>
              <a:rPr lang="en-ZA" dirty="0"/>
              <a:t>    public string Status { get; set; }</a:t>
            </a:r>
          </a:p>
          <a:p>
            <a:r>
              <a:rPr lang="en-ZA" dirty="0"/>
              <a:t>    public string </a:t>
            </a:r>
            <a:r>
              <a:rPr lang="en-ZA" dirty="0" err="1"/>
              <a:t>DocumentName</a:t>
            </a:r>
            <a:r>
              <a:rPr lang="en-ZA" dirty="0"/>
              <a:t> { get; set; }</a:t>
            </a:r>
          </a:p>
          <a:p>
            <a:r>
              <a:rPr lang="en-ZA" dirty="0"/>
              <a:t>}</a:t>
            </a:r>
          </a:p>
        </p:txBody>
      </p:sp>
      <p:sp>
        <p:nvSpPr>
          <p:cNvPr id="5" name="TextBox 4">
            <a:extLst>
              <a:ext uri="{FF2B5EF4-FFF2-40B4-BE49-F238E27FC236}">
                <a16:creationId xmlns:a16="http://schemas.microsoft.com/office/drawing/2014/main" id="{FA40EA13-16A3-995D-B2BB-0F1004E54BE2}"/>
              </a:ext>
            </a:extLst>
          </p:cNvPr>
          <p:cNvSpPr txBox="1"/>
          <p:nvPr/>
        </p:nvSpPr>
        <p:spPr>
          <a:xfrm>
            <a:off x="6375400" y="2171698"/>
            <a:ext cx="4969933" cy="2308324"/>
          </a:xfrm>
          <a:prstGeom prst="rect">
            <a:avLst/>
          </a:prstGeom>
          <a:noFill/>
        </p:spPr>
        <p:txBody>
          <a:bodyPr wrap="square" rtlCol="0">
            <a:spAutoFit/>
          </a:bodyPr>
          <a:lstStyle/>
          <a:p>
            <a:r>
              <a:rPr lang="en-US" b="1" dirty="0"/>
              <a:t>What this code does :</a:t>
            </a:r>
          </a:p>
          <a:p>
            <a:endParaRPr lang="en-US" b="1" dirty="0"/>
          </a:p>
          <a:p>
            <a:pPr marL="285750" indent="-285750">
              <a:buFont typeface="Arial" panose="020B0604020202020204" pitchFamily="34" charset="0"/>
              <a:buChar char="•"/>
            </a:pPr>
            <a:r>
              <a:rPr lang="en-ZA" dirty="0"/>
              <a:t>Represents a single lecturer claim.</a:t>
            </a:r>
          </a:p>
          <a:p>
            <a:pPr marL="285750" indent="-285750">
              <a:buFont typeface="Arial" panose="020B0604020202020204" pitchFamily="34" charset="0"/>
              <a:buChar char="•"/>
            </a:pPr>
            <a:r>
              <a:rPr lang="en-US" dirty="0"/>
              <a:t>Contains all necessary information for submission, approval, and reporting.</a:t>
            </a:r>
          </a:p>
          <a:p>
            <a:pPr marL="285750" indent="-285750">
              <a:buFont typeface="Arial" panose="020B0604020202020204" pitchFamily="34" charset="0"/>
              <a:buChar char="•"/>
            </a:pPr>
            <a:r>
              <a:rPr lang="en-US" dirty="0"/>
              <a:t>Works with Observable Collection for real-time UI updates.</a:t>
            </a:r>
          </a:p>
          <a:p>
            <a:pPr marL="285750" indent="-285750">
              <a:buFont typeface="Arial" panose="020B0604020202020204" pitchFamily="34" charset="0"/>
              <a:buChar char="•"/>
            </a:pPr>
            <a:endParaRPr lang="en-ZA" dirty="0"/>
          </a:p>
        </p:txBody>
      </p:sp>
    </p:spTree>
    <p:extLst>
      <p:ext uri="{BB962C8B-B14F-4D97-AF65-F5344CB8AC3E}">
        <p14:creationId xmlns:p14="http://schemas.microsoft.com/office/powerpoint/2010/main" val="167517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2" name="Rectangle 11">
            <a:extLst>
              <a:ext uri="{FF2B5EF4-FFF2-40B4-BE49-F238E27FC236}">
                <a16:creationId xmlns:a16="http://schemas.microsoft.com/office/drawing/2014/main" id="{9E10BDB4-64F2-477D-A03B-9F8352D5E0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8C1846F-3E71-FEB1-F73B-664B4507B063}"/>
              </a:ext>
            </a:extLst>
          </p:cNvPr>
          <p:cNvSpPr>
            <a:spLocks noGrp="1"/>
          </p:cNvSpPr>
          <p:nvPr>
            <p:ph type="title"/>
          </p:nvPr>
        </p:nvSpPr>
        <p:spPr>
          <a:xfrm>
            <a:off x="521208" y="978408"/>
            <a:ext cx="6300216" cy="1325880"/>
          </a:xfrm>
        </p:spPr>
        <p:txBody>
          <a:bodyPr vert="horz" lIns="91440" tIns="45720" rIns="91440" bIns="45720" rtlCol="0" anchor="t">
            <a:normAutofit/>
          </a:bodyPr>
          <a:lstStyle/>
          <a:p>
            <a:r>
              <a:rPr lang="en-US" b="1" kern="1200" dirty="0">
                <a:solidFill>
                  <a:schemeClr val="tx1"/>
                </a:solidFill>
                <a:latin typeface="+mj-lt"/>
                <a:ea typeface="+mj-ea"/>
                <a:cs typeface="+mj-cs"/>
              </a:rPr>
              <a:t>Conclusion</a:t>
            </a:r>
          </a:p>
        </p:txBody>
      </p:sp>
      <p:sp>
        <p:nvSpPr>
          <p:cNvPr id="14" name="Rectangle 13">
            <a:extLst>
              <a:ext uri="{FF2B5EF4-FFF2-40B4-BE49-F238E27FC236}">
                <a16:creationId xmlns:a16="http://schemas.microsoft.com/office/drawing/2014/main" id="{887F59F2-5FBC-40CD-AD35-376AECE49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6281928"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71C494-8107-3D61-D611-4FBC7C22A2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13612" y="611650"/>
            <a:ext cx="416052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7" name="Graphic 6" descr="Lecturer">
            <a:extLst>
              <a:ext uri="{FF2B5EF4-FFF2-40B4-BE49-F238E27FC236}">
                <a16:creationId xmlns:a16="http://schemas.microsoft.com/office/drawing/2014/main" id="{26412126-33CA-88DB-0521-CBB6DEB28F6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8067" y="2429623"/>
            <a:ext cx="3916313" cy="3916313"/>
          </a:xfrm>
          <a:prstGeom prst="rect">
            <a:avLst/>
          </a:prstGeom>
        </p:spPr>
      </p:pic>
      <p:sp>
        <p:nvSpPr>
          <p:cNvPr id="17" name="TextBox 16">
            <a:extLst>
              <a:ext uri="{FF2B5EF4-FFF2-40B4-BE49-F238E27FC236}">
                <a16:creationId xmlns:a16="http://schemas.microsoft.com/office/drawing/2014/main" id="{F2F7E27C-4F82-BB2E-E4A0-ED917D55B387}"/>
              </a:ext>
            </a:extLst>
          </p:cNvPr>
          <p:cNvSpPr txBox="1"/>
          <p:nvPr/>
        </p:nvSpPr>
        <p:spPr>
          <a:xfrm>
            <a:off x="7507224" y="1088136"/>
            <a:ext cx="4160520" cy="5257800"/>
          </a:xfrm>
          <a:prstGeom prst="rect">
            <a:avLst/>
          </a:prstGeom>
        </p:spPr>
        <p:txBody>
          <a:bodyPr vert="horz" lIns="91440" tIns="45720" rIns="91440" bIns="45720" rtlCol="0">
            <a:normAutofit/>
          </a:bodyPr>
          <a:lstStyle/>
          <a:p>
            <a:pPr>
              <a:spcAft>
                <a:spcPts val="600"/>
              </a:spcAft>
            </a:pPr>
            <a:endParaRPr lang="en-US" sz="1500" dirty="0"/>
          </a:p>
          <a:p>
            <a:pPr>
              <a:spcAft>
                <a:spcPts val="600"/>
              </a:spcAft>
            </a:pPr>
            <a:endParaRPr lang="en-US" sz="1500" dirty="0"/>
          </a:p>
          <a:p>
            <a:pPr>
              <a:spcAft>
                <a:spcPts val="600"/>
              </a:spcAft>
            </a:pPr>
            <a:r>
              <a:rPr lang="en-US" sz="1500" dirty="0"/>
              <a:t>The CMCS WPF prototype successfully automates the lecturer claim process, from submission to approval and HR reporting. Lecturers can easily submit claims with automatic calculation and validation, while coordinators and managers can efficiently approve or reject claims based on predefined criteria. HR staff can generate summary reports and calculate total payouts, improving transparency and efficiency.</a:t>
            </a:r>
          </a:p>
          <a:p>
            <a:pPr indent="-228600">
              <a:spcAft>
                <a:spcPts val="600"/>
              </a:spcAft>
              <a:buFont typeface="Arial" panose="020B0604020202020204" pitchFamily="34" charset="0"/>
              <a:buChar char="•"/>
            </a:pPr>
            <a:endParaRPr lang="en-US" sz="1500" dirty="0"/>
          </a:p>
          <a:p>
            <a:pPr>
              <a:spcAft>
                <a:spcPts val="600"/>
              </a:spcAft>
            </a:pPr>
            <a:r>
              <a:rPr lang="en-US" sz="1500" dirty="0"/>
              <a:t>The system balances functionality and usability, providing a reliable, user-friendly solution for managing lecturer claims. It demonstrates automation, real-time tracking, and streamlined workflows, laying a solid foundation for future enhancements, such as database integration or extended reporting features.</a:t>
            </a:r>
          </a:p>
          <a:p>
            <a:pPr indent="-228600">
              <a:spcAft>
                <a:spcPts val="600"/>
              </a:spcAft>
              <a:buFont typeface="Arial" panose="020B0604020202020204" pitchFamily="34" charset="0"/>
              <a:buChar char="•"/>
            </a:pPr>
            <a:endParaRPr lang="en-US" sz="1500" dirty="0"/>
          </a:p>
        </p:txBody>
      </p:sp>
    </p:spTree>
    <p:extLst>
      <p:ext uri="{BB962C8B-B14F-4D97-AF65-F5344CB8AC3E}">
        <p14:creationId xmlns:p14="http://schemas.microsoft.com/office/powerpoint/2010/main" val="2720168825"/>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77</TotalTime>
  <Words>732</Words>
  <Application>Microsoft Office PowerPoint</Application>
  <PresentationFormat>Widescreen</PresentationFormat>
  <Paragraphs>114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Bierstadt</vt:lpstr>
      <vt:lpstr>Neue Haas Grotesk Text Pro</vt:lpstr>
      <vt:lpstr>GestaltVTI</vt:lpstr>
      <vt:lpstr>POE - Monthly Claim System</vt:lpstr>
      <vt:lpstr>Application Layout</vt:lpstr>
      <vt:lpstr>Application Layout</vt:lpstr>
      <vt:lpstr>Placeholders for Text Boxes</vt:lpstr>
      <vt:lpstr>Lecturer Document Upload</vt:lpstr>
      <vt:lpstr>Claim Submission Logic</vt:lpstr>
      <vt:lpstr>Approval and Rejection</vt:lpstr>
      <vt:lpstr>Automated Criteria Check</vt:lpstr>
      <vt:lpstr>HR Report Generation</vt:lpstr>
      <vt:lpstr>Claim Class Structure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Rafiqah Kirby</dc:creator>
  <cp:lastModifiedBy>Rafiqah Kirby</cp:lastModifiedBy>
  <cp:revision>1</cp:revision>
  <dcterms:created xsi:type="dcterms:W3CDTF">2025-11-21T17:53:04Z</dcterms:created>
  <dcterms:modified xsi:type="dcterms:W3CDTF">2025-11-21T19:10:41Z</dcterms:modified>
</cp:coreProperties>
</file>